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+0ugjAcGGJ7jmA5PK5mhdPrTG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E7E614-6B5C-4083-A573-AEFC7ACD2370}">
  <a:tblStyle styleId="{36E7E614-6B5C-4083-A573-AEFC7ACD23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c8919cc5_0_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1c8919cc5_0_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c8919cc5_0_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1c8919cc5_0_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c8919cc5_0_2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1c8919cc5_0_2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eb861762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1eb861762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1eb861762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1c8919cc5_0_3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1c8919cc5_0_3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1c8919cc5_0_3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1c8919cc5_0_3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1c8919cc5_0_4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1c8919cc5_0_4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eb861762_0_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eb861762_0_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1eb861762_0_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1c8919cc5_0_5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1c8919cc5_0_5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1c8919cc5_0_6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1c8919cc5_0_6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1c8919cc5_0_7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1c8919cc5_0_7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1c8919cc5_0_8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1c8919cc5_0_8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Detection of Spiritual Burnout Using Behavioral Pattern Analysis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Shivansh Jaiswal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2210992323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Preeti Saini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4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Spiritual burnout causes gradual decline in engagement and motivation.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Traditional detection methods rely on surveys and observation.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Digital spiritual platforms generate behavioral data useful for analysis.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AI and Machine Learning can identify early signs of disengagement.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Proposed system uses behavioral pattern analysis for burnout prediction.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c8919cc5_0_5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e1c8919cc5_0_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e1c8919cc5_0_5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Spiritual burnout is difficult to detect at an early stage.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Existing approaches are subjective and delayed.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Need for an automated and data-driven detection system.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Early identification can help improve engagement and well-being.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1c8919cc5_0_1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e1c8919cc5_0_1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e1c8919cc5_0_1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Analyze behavioral patterns from digital spiritual platforms.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Extract engagement-related behavioral features.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Develop ML models for burnout classification.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Detect early signs of disengagement using anomaly detection.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Provide timely intervention support.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1c8919cc5_0_2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e1c8919cc5_0_2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e1c8919cc5_0_2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Model Development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1c8919cc5_0_20"/>
          <p:cNvSpPr txBox="1"/>
          <p:nvPr/>
        </p:nvSpPr>
        <p:spPr>
          <a:xfrm>
            <a:off x="5213628" y="5682250"/>
            <a:ext cx="3616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e1eb86176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175" y="914315"/>
            <a:ext cx="4061650" cy="51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e1eb861762_0_0"/>
          <p:cNvSpPr txBox="1"/>
          <p:nvPr/>
        </p:nvSpPr>
        <p:spPr>
          <a:xfrm>
            <a:off x="2681875" y="6080850"/>
            <a:ext cx="3921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Flowchart of the proposed AI-based spiritual burnout detection system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1c8919cc5_0_3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Dataset &amp; Features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e1c8919cc5_0_3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g3e1c8919cc5_0_3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Dataset Description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Simulated dataset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500 users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60 days monitoring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Three classes: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Healthy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At-Risk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Burnout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Extracted Features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Consistency Index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Engagement Score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Response Delay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Session Duration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Activity Drop Rate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1c8919cc5_0_3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Model Development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e1c8919cc5_0_3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e1c8919cc5_0_3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Machine Learning Models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Random Forest Classifier</a:t>
            </a:r>
            <a:endParaRPr b="1" sz="30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Main classification model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Handles non-linear relationships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Robust and accurate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Isolation Forest</a:t>
            </a:r>
            <a:endParaRPr b="1" sz="30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Anomaly detection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Detects unusual behavior patterns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Identifies early burnout signs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1c8919cc5_0_4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Results and Analysis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e1c8919cc5_0_4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e1c8919cc5_0_4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Results</a:t>
            </a:r>
            <a:endParaRPr b="1" sz="2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Accuracy: 91%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Precision: 89%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Recall: 90%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F1-Score: 89.5%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Findings</a:t>
            </a:r>
            <a:endParaRPr b="1" sz="2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Reduced engagement indicates burnout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Response delay is a strong indicator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Consistency Index is highly important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e1eb86176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25" y="993350"/>
            <a:ext cx="3752125" cy="282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e1eb861762_0_7"/>
          <p:cNvSpPr txBox="1"/>
          <p:nvPr/>
        </p:nvSpPr>
        <p:spPr>
          <a:xfrm>
            <a:off x="180525" y="3624043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g3e1eb86176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1266" y="3960970"/>
            <a:ext cx="3631550" cy="27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e1eb861762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5972" y="1117050"/>
            <a:ext cx="3642003" cy="27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e1eb861762_0_7"/>
          <p:cNvSpPr txBox="1"/>
          <p:nvPr/>
        </p:nvSpPr>
        <p:spPr>
          <a:xfrm>
            <a:off x="5368288" y="3564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c8919cc5_0_54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Comparative Analysis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e1c8919cc5_0_5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e1c8919cc5_0_54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g3e1c8919cc5_0_54"/>
          <p:cNvGraphicFramePr/>
          <p:nvPr/>
        </p:nvGraphicFramePr>
        <p:xfrm>
          <a:off x="457200" y="123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{36E7E614-6B5C-4083-A573-AEFC7ACD2370}</a:tableStyleId>
              </a:tblPr>
              <a:tblGrid>
                <a:gridCol w="2755350"/>
                <a:gridCol w="1475425"/>
              </a:tblGrid>
              <a:tr h="92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Model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Accuracy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6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Random Forest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91%</a:t>
                      </a:r>
                      <a:endParaRPr sz="2100"/>
                    </a:p>
                  </a:txBody>
                  <a:tcPr marT="91425" marB="91425" marR="91425" marL="91425"/>
                </a:tc>
              </a:tr>
              <a:tr h="6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SVM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84%</a:t>
                      </a:r>
                      <a:endParaRPr sz="2100"/>
                    </a:p>
                  </a:txBody>
                  <a:tcPr marT="91425" marB="91425" marR="91425" marL="91425"/>
                </a:tc>
              </a:tr>
              <a:tr h="98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Logistic Regression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81%</a:t>
                      </a:r>
                      <a:endParaRPr sz="2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" name="Google Shape;160;g3e1c8919cc5_0_54"/>
          <p:cNvSpPr txBox="1"/>
          <p:nvPr/>
        </p:nvSpPr>
        <p:spPr>
          <a:xfrm>
            <a:off x="457200" y="3603572"/>
            <a:ext cx="6911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/>
              <a:t>Conclusion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/>
              <a:t>Random Forest performed best for burnout prediction.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1c8919cc5_0_6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Real World Applications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e1c8919cc5_0_6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e1c8919cc5_0_66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Applications</a:t>
            </a:r>
            <a:endParaRPr b="1" sz="27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Digital spiritual communities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Online learning systems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Workplace burnout detection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Student engagement monitoring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Benefits</a:t>
            </a:r>
            <a:endParaRPr b="1" sz="27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Early intervention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Improved participation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Better mental well-being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1c8919cc5_0_73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Ethical Considerations &amp; Limitations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e1c8919cc5_0_7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e1c8919cc5_0_73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Ethical Considerations</a:t>
            </a:r>
            <a:endParaRPr b="1" sz="25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User privacy protection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Data anonymity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Secure data handling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Human oversight required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Limitations</a:t>
            </a:r>
            <a:endParaRPr b="1" sz="25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Simulated dataset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Subjective nature of burnout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Requires real-world validation</a:t>
            </a:r>
            <a:endParaRPr sz="2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1c8919cc5_0_8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e1c8919cc5_0_8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e1c8919cc5_0_8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Conclusion</a:t>
            </a:r>
            <a:endParaRPr b="1" sz="2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AI can effectively detect spiritual burnout.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Behavioral patterns are reliable indicators.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Early intervention becomes possible.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Future Work</a:t>
            </a:r>
            <a:endParaRPr b="1" sz="2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Real-world datasets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Mobile application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Real-time monitoring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Deep learning integration</a:t>
            </a:r>
            <a:endParaRPr b="1"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